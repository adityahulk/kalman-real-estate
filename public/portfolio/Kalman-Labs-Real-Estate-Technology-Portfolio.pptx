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4aedd1fd742d0" /><Relationship Type="http://schemas.openxmlformats.org/officeDocument/2006/relationships/extended-properties" Target="/docProps/app.xml" Id="R7b420fdbe1614259" /><Relationship Type="http://schemas.openxmlformats.org/officeDocument/2006/relationships/officeDocument" Target="/ppt/presentation.xml" Id="R009df7325950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054fd9cd04414"/>
  </p:sldMasterIdLst>
  <p:notesMasterIdLst>
    <p:notesMasterId xmlns:r="http://schemas.openxmlformats.org/officeDocument/2006/relationships" r:id="Re171f34550b54797"/>
  </p:notesMasterIdLst>
  <p:sldIdLst>
    <p:sldId xmlns:r="http://schemas.openxmlformats.org/officeDocument/2006/relationships" id="256" r:id="Rdf485bb54b234043"/>
    <p:sldId xmlns:r="http://schemas.openxmlformats.org/officeDocument/2006/relationships" id="257" r:id="Rb14d246f430c4ee6"/>
    <p:sldId xmlns:r="http://schemas.openxmlformats.org/officeDocument/2006/relationships" id="258" r:id="Re5f6cce8f1d045db"/>
    <p:sldId xmlns:r="http://schemas.openxmlformats.org/officeDocument/2006/relationships" id="259" r:id="Reec15a2a792b465a"/>
    <p:sldId xmlns:r="http://schemas.openxmlformats.org/officeDocument/2006/relationships" id="260" r:id="Rf1e3a4ddf0834d25"/>
    <p:sldId xmlns:r="http://schemas.openxmlformats.org/officeDocument/2006/relationships" id="261" r:id="R9c949adfd80943da"/>
    <p:sldId xmlns:r="http://schemas.openxmlformats.org/officeDocument/2006/relationships" id="262" r:id="Rfc2ddbfb63f64451"/>
    <p:sldId xmlns:r="http://schemas.openxmlformats.org/officeDocument/2006/relationships" id="263" r:id="R792d034576694817"/>
    <p:sldId xmlns:r="http://schemas.openxmlformats.org/officeDocument/2006/relationships" id="264" r:id="R679013db82524782"/>
    <p:sldId xmlns:r="http://schemas.openxmlformats.org/officeDocument/2006/relationships" id="265" r:id="Rbd0e79007fd54240"/>
    <p:sldId xmlns:r="http://schemas.openxmlformats.org/officeDocument/2006/relationships" id="266" r:id="R9e9931316fee49c6"/>
    <p:sldId xmlns:r="http://schemas.openxmlformats.org/officeDocument/2006/relationships" id="267" r:id="R275b649879a84707"/>
    <p:sldId xmlns:r="http://schemas.openxmlformats.org/officeDocument/2006/relationships" id="268" r:id="Rdfb9e3687cb1468a"/>
    <p:sldId xmlns:r="http://schemas.openxmlformats.org/officeDocument/2006/relationships" id="269" r:id="R4036b2c09c0944d9"/>
    <p:sldId xmlns:r="http://schemas.openxmlformats.org/officeDocument/2006/relationships" id="270" r:id="R2503ecd07e1c47b3"/>
    <p:sldId xmlns:r="http://schemas.openxmlformats.org/officeDocument/2006/relationships" id="271" r:id="R0b5d334369f34c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0d5ed2dae84ac0" /><Relationship Type="http://schemas.openxmlformats.org/officeDocument/2006/relationships/slideMaster" Target="/ppt/slideMasters/slideMaster1.xml" Id="Rd4b054fd9cd04414" /><Relationship Type="http://schemas.openxmlformats.org/officeDocument/2006/relationships/notesMaster" Target="/ppt/notesMasters/notesMaster1.xml" Id="Re171f34550b54797" /><Relationship Type="http://schemas.openxmlformats.org/officeDocument/2006/relationships/presProps" Target="/ppt/presProps.xml" Id="R7ac7d338c61f4a3b" /><Relationship Type="http://schemas.openxmlformats.org/officeDocument/2006/relationships/viewProps" Target="/ppt/viewProps.xml" Id="R5e582434d1da49fa" /><Relationship Type="http://schemas.openxmlformats.org/officeDocument/2006/relationships/tableStyles" Target="/ppt/tableStyles.xml" Id="R81e2b0d85adc4262" /><Relationship Type="http://schemas.openxmlformats.org/officeDocument/2006/relationships/slide" Target="/ppt/slides/slide1.xml" Id="Rdf485bb54b234043" /><Relationship Type="http://schemas.openxmlformats.org/officeDocument/2006/relationships/slide" Target="/ppt/slides/slide2.xml" Id="Rb14d246f430c4ee6" /><Relationship Type="http://schemas.openxmlformats.org/officeDocument/2006/relationships/slide" Target="/ppt/slides/slide3.xml" Id="Re5f6cce8f1d045db" /><Relationship Type="http://schemas.openxmlformats.org/officeDocument/2006/relationships/slide" Target="/ppt/slides/slide4.xml" Id="Reec15a2a792b465a" /><Relationship Type="http://schemas.openxmlformats.org/officeDocument/2006/relationships/slide" Target="/ppt/slides/slide5.xml" Id="Rf1e3a4ddf0834d25" /><Relationship Type="http://schemas.openxmlformats.org/officeDocument/2006/relationships/slide" Target="/ppt/slides/slide6.xml" Id="R9c949adfd80943da" /><Relationship Type="http://schemas.openxmlformats.org/officeDocument/2006/relationships/slide" Target="/ppt/slides/slide7.xml" Id="Rfc2ddbfb63f64451" /><Relationship Type="http://schemas.openxmlformats.org/officeDocument/2006/relationships/slide" Target="/ppt/slides/slide8.xml" Id="R792d034576694817" /><Relationship Type="http://schemas.openxmlformats.org/officeDocument/2006/relationships/slide" Target="/ppt/slides/slide9.xml" Id="R679013db82524782" /><Relationship Type="http://schemas.openxmlformats.org/officeDocument/2006/relationships/slide" Target="/ppt/slides/slide10.xml" Id="Rbd0e79007fd54240" /><Relationship Type="http://schemas.openxmlformats.org/officeDocument/2006/relationships/slide" Target="/ppt/slides/slide11.xml" Id="R9e9931316fee49c6" /><Relationship Type="http://schemas.openxmlformats.org/officeDocument/2006/relationships/slide" Target="/ppt/slides/slide12.xml" Id="R275b649879a84707" /><Relationship Type="http://schemas.openxmlformats.org/officeDocument/2006/relationships/slide" Target="/ppt/slides/slide13.xml" Id="Rdfb9e3687cb1468a" /><Relationship Type="http://schemas.openxmlformats.org/officeDocument/2006/relationships/slide" Target="/ppt/slides/slide14.xml" Id="R4036b2c09c0944d9" /><Relationship Type="http://schemas.openxmlformats.org/officeDocument/2006/relationships/slide" Target="/ppt/slides/slide15.xml" Id="R2503ecd07e1c47b3" /><Relationship Type="http://schemas.openxmlformats.org/officeDocument/2006/relationships/slide" Target="/ppt/slides/slide16.xml" Id="R0b5d334369f3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8735ae50d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bdfe689104305" /><Relationship Type="http://schemas.openxmlformats.org/officeDocument/2006/relationships/notesMaster" Target="/ppt/notesMasters/notesMaster1.xml" Id="Rd928137dd5a3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c6946719454822" /><Relationship Type="http://schemas.openxmlformats.org/officeDocument/2006/relationships/notesMaster" Target="/ppt/notesMasters/notesMaster1.xml" Id="Rb70a2976ddae4d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f9c368fa6d4602" /><Relationship Type="http://schemas.openxmlformats.org/officeDocument/2006/relationships/notesMaster" Target="/ppt/notesMasters/notesMaster1.xml" Id="R4bdd7fce4b2d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7a7b255a743b8" /><Relationship Type="http://schemas.openxmlformats.org/officeDocument/2006/relationships/notesMaster" Target="/ppt/notesMasters/notesMaster1.xml" Id="Ref3763c74a484c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754b00ea3d4b39" /><Relationship Type="http://schemas.openxmlformats.org/officeDocument/2006/relationships/notesMaster" Target="/ppt/notesMasters/notesMaster1.xml" Id="Raa02ca32c89841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8c1af98674b9d" /><Relationship Type="http://schemas.openxmlformats.org/officeDocument/2006/relationships/notesMaster" Target="/ppt/notesMasters/notesMaster1.xml" Id="Rd6f65184fb2d4a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b9f4a382214f8b" /><Relationship Type="http://schemas.openxmlformats.org/officeDocument/2006/relationships/notesMaster" Target="/ppt/notesMasters/notesMaster1.xml" Id="R3c8a901b4992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946d265edc42c6" /><Relationship Type="http://schemas.openxmlformats.org/officeDocument/2006/relationships/notesMaster" Target="/ppt/notesMasters/notesMaster1.xml" Id="R65e2f6af16b44c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f07e23425f40a3" /><Relationship Type="http://schemas.openxmlformats.org/officeDocument/2006/relationships/notesMaster" Target="/ppt/notesMasters/notesMaster1.xml" Id="Re203dfd9b01142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7592791e54982" /><Relationship Type="http://schemas.openxmlformats.org/officeDocument/2006/relationships/notesMaster" Target="/ppt/notesMasters/notesMaster1.xml" Id="R08167dea1a4c44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d56b5e6ace4013" /><Relationship Type="http://schemas.openxmlformats.org/officeDocument/2006/relationships/notesMaster" Target="/ppt/notesMasters/notesMaster1.xml" Id="Rb94478ae720c41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af1df9ec554a25" /><Relationship Type="http://schemas.openxmlformats.org/officeDocument/2006/relationships/notesMaster" Target="/ppt/notesMasters/notesMaster1.xml" Id="Ra7b3681f9bc5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d2763219e54e3d" /><Relationship Type="http://schemas.openxmlformats.org/officeDocument/2006/relationships/notesMaster" Target="/ppt/notesMasters/notesMaster1.xml" Id="Rba8e353cb95845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192e0f307d4a68" /><Relationship Type="http://schemas.openxmlformats.org/officeDocument/2006/relationships/notesMaster" Target="/ppt/notesMasters/notesMaster1.xml" Id="R587444b6d9374b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2a7635e45e4d60" /><Relationship Type="http://schemas.openxmlformats.org/officeDocument/2006/relationships/notesMaster" Target="/ppt/notesMasters/notesMaster1.xml" Id="R3022e8145d434d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57743b51354ad0" /><Relationship Type="http://schemas.openxmlformats.org/officeDocument/2006/relationships/notesMaster" Target="/ppt/notesMasters/notesMaster1.xml" Id="R29b4a6d08bc9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f15b68909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dc8f616423414b" /><Relationship Type="http://schemas.openxmlformats.org/officeDocument/2006/relationships/slideLayout" Target="/ppt/slideLayouts/slideLayout1.xml" Id="R6d5fad01b27d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fad01b27d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154a1c6c742ba" /><Relationship Type="http://schemas.openxmlformats.org/officeDocument/2006/relationships/notesSlide" Target="/ppt/notesSlides/notesSlide1.xml" Id="R022ea7105fed48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87139e3648f9" /><Relationship Type="http://schemas.openxmlformats.org/officeDocument/2006/relationships/notesSlide" Target="/ppt/notesSlides/notesSlide2.xml" Id="R23baaccad71c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dbdedf82a4f18" /><Relationship Type="http://schemas.openxmlformats.org/officeDocument/2006/relationships/notesSlide" Target="/ppt/notesSlides/notesSlide3.xml" Id="R34c2cdbc795c49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d8b13f234c57" /><Relationship Type="http://schemas.openxmlformats.org/officeDocument/2006/relationships/notesSlide" Target="/ppt/notesSlides/notesSlide4.xml" Id="R6f436b7e09c74d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8732c07334a8b" /><Relationship Type="http://schemas.openxmlformats.org/officeDocument/2006/relationships/notesSlide" Target="/ppt/notesSlides/notesSlide5.xml" Id="Rc64cab9ea3d94b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69f931a924d46" /><Relationship Type="http://schemas.openxmlformats.org/officeDocument/2006/relationships/notesSlide" Target="/ppt/notesSlides/notesSlide6.xml" Id="Rb3b6fc0688d74d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99aab4aff4827" /><Relationship Type="http://schemas.openxmlformats.org/officeDocument/2006/relationships/notesSlide" Target="/ppt/notesSlides/notesSlide7.xml" Id="Rb363fd09d01d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d9b91ddc1421b" /><Relationship Type="http://schemas.openxmlformats.org/officeDocument/2006/relationships/notesSlide" Target="/ppt/notesSlides/notesSlide8.xml" Id="R23be74bc55d643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9091ec0c24b3e" /><Relationship Type="http://schemas.openxmlformats.org/officeDocument/2006/relationships/notesSlide" Target="/ppt/notesSlides/notesSlide9.xml" Id="R9814d15881a6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718c8ef6c4ca4" /><Relationship Type="http://schemas.openxmlformats.org/officeDocument/2006/relationships/notesSlide" Target="/ppt/notesSlides/notesSlide10.xml" Id="R6508647c204747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5905330c4417b" /><Relationship Type="http://schemas.openxmlformats.org/officeDocument/2006/relationships/notesSlide" Target="/ppt/notesSlides/notesSlide11.xml" Id="R8fce588afed34d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917f080e44146" /><Relationship Type="http://schemas.openxmlformats.org/officeDocument/2006/relationships/notesSlide" Target="/ppt/notesSlides/notesSlide12.xml" Id="R3deb4cefb5fe4a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072b39cea4550" /><Relationship Type="http://schemas.openxmlformats.org/officeDocument/2006/relationships/notesSlide" Target="/ppt/notesSlides/notesSlide13.xml" Id="R782098c8283f4f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8f57c6d9041e4" /><Relationship Type="http://schemas.openxmlformats.org/officeDocument/2006/relationships/notesSlide" Target="/ppt/notesSlides/notesSlide14.xml" Id="Rc8fa21bfa8e540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ee56e2c1942e6" /><Relationship Type="http://schemas.openxmlformats.org/officeDocument/2006/relationships/notesSlide" Target="/ppt/notesSlides/notesSlide15.xml" Id="R2679884d55be47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5653b41e94408" /><Relationship Type="http://schemas.openxmlformats.org/officeDocument/2006/relationships/notesSlide" Target="/ppt/notesSlides/notesSlide16.xml" Id="Ra78130660cf64d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C9054-D165-45A5-8FB1-4E57D57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120CD-8296-40A3-80F7-EB509BB9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E6694-B73B-4ACA-AD4C-6EC3CD35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KALMAN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586D4-8CC4-48DC-B7E5-777771FB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600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technology built around your projects, teams and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A3747-07E0-4C3C-9BF5-C9902308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5524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Products, implementation and custom solutions for builders who need connected control from enquiry to owner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AC030-C37F-45DB-8F64-E830D86A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+91 82920 98293  ·  company@kalman-labs.com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0E22-D089-4D92-BC50-D6304EF2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095375"/>
            <a:ext cx="4333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586F-4AFB-4EE4-AB8B-6CD335D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1C4C2-8D27-44D3-9813-976E83E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3D563-23B5-440C-9071-02C6E938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C5833-AE71-4E19-8843-CF753BEE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B564D-4824-48DE-97DD-732B732A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A07C0-D087-482A-9C9E-6213315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5626B-85D4-4253-86DF-756CC7D7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9ED83-7218-4C76-BBFE-156996C6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2846A-EEA3-470E-8016-F370075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59638-70EC-4904-A01F-010CC496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8CCE5-3A00-46A4-B685-240AC21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1323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FA525-191D-4459-B417-917E4D6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1562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00271-DBB2-492C-8A44-5BAFB807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9E5A1-AE97-4F6D-8442-206C4A7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8640A-357E-4A4F-A68E-04D704B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78524-EB17-45DC-9D31-C54B777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D9891-7629-43A6-A46B-779E154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E53C22-916C-4499-AC90-9569DB5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C9DEB-5724-4E8B-A2F5-D4F1B485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A88CA-874B-447F-9110-949A9FE2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88811-5E9F-4750-998C-59A72381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25931-8B76-45A8-AD56-2C4A56B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5B912-7CF5-4159-B307-1B5E8B86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19907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003C57-2154-4DEF-831A-C4DFF468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22288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F448A0-DA28-4920-9942-F0B53DA6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85D59-6B72-4BC8-98EC-DA66B7F7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D00A29-1B78-491F-9401-C966A4C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25BAD-8A77-4083-B012-9D893F23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CD4205-FBDC-4C06-A844-7F201CA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3F0D3C-48B5-4C0F-AD61-8B6C88A6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AC626A-8FD8-450A-A010-E2E8974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1F0715-9E6D-49C7-91CC-49BD5304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03ADD-9650-438E-956C-AB0D70A9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B575F2-0FC6-4ADF-AB61-86B67BA8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A3AC43-329B-4C4B-8D68-59F3B49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26574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1EB3F2-5574-494D-9BF6-6403DE2C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28956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26376D-F401-4087-9F96-5FFFFEEA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A3F5D-85EE-4E13-98E8-DE1FA44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D4713-C073-4A09-91FC-D3B7CBB1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DA02C4-F44C-4530-8C6F-8AD55176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5297D3-2116-48F6-A8F9-E3E2A02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5D8363-A43D-430B-9188-557574B9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2B0327-0232-46FE-AF0E-DDC55A9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61DC76-AD57-42C3-BD28-CC0F974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1E4303-35E4-4283-A636-CA70259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FD202D-778E-49BB-B35A-4D6E363E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A442BD-89D9-4BBA-A4E2-A8C65202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332422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44ED47-092E-44AB-899D-F625763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356235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31D0D5-D54A-440A-B4D3-CA211F7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9035FD-A1E9-4B6B-A5A3-BA1A57CD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BE2B32-6681-4CDA-8439-2FD3A87B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840972-1D3B-43F0-AF49-4EF3DC4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788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D66A91-8CE7-45F3-A5CA-110B9D85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61A935-DC4D-415D-A7E2-F3D8BF3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600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58B7BF-78F0-4B0D-AC36-C8B53676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5A5D9D-708A-48DD-8D60-1A7135B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53CDDE-3B56-4E32-90EE-3B5E4A06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E7FF9A-D944-428E-A3F1-7FF95209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225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F5B7BE-0055-497A-ABF0-7B5C5AB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3990975"/>
            <a:ext cx="582613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61C132-C2B3-4860-93D0-3B57D26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038" y="4229100"/>
            <a:ext cx="5826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130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DFFFB8-0327-431D-B2DE-B2B8C50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8240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WIDESTATE OS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B78F3B-4AFB-4D2D-B718-77E7227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467350"/>
            <a:ext cx="18240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Builder operating system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2ABA1F-D58B-43D8-89CF-258C3B13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509587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34415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60506A-997C-43D8-BA29-150E31CA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5143500"/>
            <a:ext cx="18240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CRM + CLM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7BD889-19C6-4C1A-B3C8-0CAE3C49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5467350"/>
            <a:ext cx="1824038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Revenue to relationship</a:t>
            </a:r>
          </a:p>
        </p:txBody>
      </p:sp>
    </p:spTree>
    <p:extLst>
      <p:ext uri="{BB962C8B-B14F-4D97-AF65-F5344CB8AC3E}">
        <p14:creationId xmlns:p14="http://schemas.microsoft.com/office/powerpoint/2010/main" val="8009157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B7831-F746-4A4C-A392-25FF98F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32D71-A6D9-426E-8442-20D9EFBE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A65AC-B4B0-4429-9A5F-6D29C6F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THE OPERATIONAL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F8885-DD30-42CC-B0D3-FD00BE71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A4CFE-205A-4427-8B8F-888A0B08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DD643-1123-49E8-9744-A72E8D12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95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Growth creates risk when every team carries a different version of the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E4898-A387-441A-BEC9-B7CB59F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Builders do not lack activity. They lack one reliable operational context connecting customers, properties, documents, construction and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0D54F-286A-4972-BD25-B72D166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71215-7D70-4FB2-AED5-0CFA333B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Ownership records spread across files and employees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3FFF-986D-42CE-8439-B99A7AC7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1975E-578C-4CA7-B9BE-B3B0DA1F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Sales conversations separated from live 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2DDA6-EE32-48B3-8A51-38096D0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03C8E-4478-42E1-A590-ED22F2A5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Progress and contractor updates trapped in calls and messages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5CAD4-D833-4567-B67C-3BC4E66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BEAB-FDEE-472C-A734-E7795C3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Legal documents difficult to retrieve during high-stakes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93910-417A-4468-B67A-259D3DF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"/>
            <a:ext cx="3429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FF5BB-DEE1-4521-95A4-5355019D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THE MANAGEMENT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FD032-FD53-4297-8DE7-8B61200F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91CDD-EB2F-4BE9-8F4A-4F6D7B5F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What is available?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F5FE7-1789-4F91-B88D-6DD4240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356C2-9354-4137-B968-FF3ED0D3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76A9C-A18D-49A7-9C16-944ACE5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What changed?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46FA9-D304-4892-8570-8DD69F4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51E6E-E6D6-4A85-96D6-80E6F0A8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AA4C6-A980-4B12-8191-30DA1DD1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What is delayed?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1CC7A-FAC3-4532-8A5F-92E4093A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671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63EA9-0138-486B-973D-F3184F0F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0D854-8D38-4CC9-BD17-8254A9CC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95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What needs action?</a:t>
            </a:r>
          </a:p>
        </p:txBody>
      </p:sp>
    </p:spTree>
    <p:extLst>
      <p:ext uri="{BB962C8B-B14F-4D97-AF65-F5344CB8AC3E}">
        <p14:creationId xmlns:p14="http://schemas.microsoft.com/office/powerpoint/2010/main" val="7432050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853708-AE28-40C6-8F1F-4DCD921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BFC6B-FEA7-42B2-BA8F-AD7EA444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A4CEA-B444-467A-8E29-D21CE5C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KALMAN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2223-EDC5-454B-91B0-848A945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ACF7B-CD62-43A7-B399-4616B321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496BF-5AA1-4C9E-BBFA-CA31B212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product is only half the job. Implementation makes it operational.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6CD54-C141-4CAE-9795-2F0DDA5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5CC3F-B16D-4049-8BF1-C6770CDF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C0DF7-7868-4AC6-97E9-B572BE6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Projects, teams and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D4794-996F-40C3-8847-20262AB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3049E-8B69-4E4D-AEA2-FEB7ACA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DBC2C-E150-4686-9E5F-5192207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E05B1-AE6E-49C0-A9CD-E261EE0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Roles, approvals and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C0AD8-2E71-4156-A9DC-E8669FD8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9B8E9-9C7D-4EEB-BD05-E799D0C5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030E4-EBA2-4383-A0A7-A55767D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MIGRATE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1E726-EFD1-4301-876B-1C34456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Verified records and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C53B3-473A-4357-B3DD-528DF75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37E98-3DF5-4645-A8AE-72304A7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45ED5-702F-4DE8-B067-B9E40FDF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LAUNCH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5207-1C55-40FE-9E57-90B14773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Selected projects and training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DFF15-8508-4EC4-A795-26CEC07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7D073-A2F8-49DF-B33F-E70BD06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A1741-0F7F-46E1-B587-15C1603E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EXPAND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3948B-C6AE-4E6E-8BD7-6DA6199F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Support and new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DCA64-1956-4EB6-94EA-2DE9350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Complete platform · Selected modules · Custom real estate technology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DEEDC-F513-4DA2-94DA-4B26A9B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WIDESTATE 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DD2AA-1300-418D-AD2F-F5730ED5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Operating foundation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50177-5AC0-49AE-893A-127794B9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528637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273C0-201B-4045-AD93-DBE625F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CRM + CLM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AA037-1EE0-468E-85E3-C2E1F64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Revenue and relationship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6BB54-E12B-400A-B293-8B509BE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528637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495B4-8F2E-4550-B008-7658678E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CUSTOM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F7851F-1FA5-41C5-9506-63BDC303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Portals, integrations and workflows</a:t>
            </a:r>
          </a:p>
        </p:txBody>
      </p:sp>
    </p:spTree>
    <p:extLst>
      <p:ext uri="{BB962C8B-B14F-4D97-AF65-F5344CB8AC3E}">
        <p14:creationId xmlns:p14="http://schemas.microsoft.com/office/powerpoint/2010/main" val="8662749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23273-96C4-4AA2-8911-85DDB5D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3205E-7CBA-4842-ABAB-C987524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01C32-E83A-4958-83AF-4A39BA69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CONNECTED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BF7AE-0267-4E97-AA62-6CF8E500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EB397-5ECF-4C4C-8607-58AA0D9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F5A23-3F34-46B4-9050-F6CB61E6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62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One operating thread connects revenue, property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209FC-DBD0-4970-8244-A918BF3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2D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8FB2D1"/>
                </a:solidFill>
                <a:latin typeface="Avenir Next"/>
                <a:ea typeface="Avenir Next"/>
                <a:cs typeface="Avenir Next"/>
              </a:rPr>
              <a:t>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A6743-688E-4041-9EFF-31A666B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6C8E1-1AC8-4ECA-A32A-CC1E070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71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5D838-E2D7-4840-86DD-EC494A56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Campaign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34C58-FBDA-40EB-A6AB-086DFC84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71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28B58-D39C-44A6-AA54-AAE19AE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A1C24-1122-4544-A61B-82B77EE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381FA-38C7-4A74-ADA3-E686FAAE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Follow-up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7671C-ED67-420C-A959-A397857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71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A5A21-7ACC-4E45-968D-F6E380FC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Site visit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E0E2E-C49F-4A89-850C-FD5555FA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71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2D1"/>
          </a:solidFill>
          <a:ln xmlns:a="http://schemas.openxmlformats.org/drawingml/2006/main" w="0">
            <a:solidFill>
              <a:srgbClr val="8FB2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C75B6-E70A-4900-A368-6BCCF5AE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Booking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5A84B-BAAE-41E4-AC80-D0C207B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1EC7C-D602-4E94-AB24-B35CF2AF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5282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48A48-EA7A-4151-9CE5-3A0A0C3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67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C470F-A256-4DA4-9AA0-DC1D9239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Allotment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DCFBA-A77F-4F61-AA7F-FAE03919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67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80CFC-22E8-416C-9ECB-22F0D45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433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03ED4-9C2C-455E-B5C7-7DD3570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5B971-019F-436A-BB57-82B981A5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433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Documents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E3333-F6D5-4ECD-BB6D-12787FC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67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284FB-E72B-42D5-9F13-7DACFF46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433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Registry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2181A-97C9-437D-9AD9-4D45D782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1000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C2A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BC2AA"/>
                </a:solidFill>
                <a:latin typeface="Avenir Next"/>
                <a:ea typeface="Avenir Next"/>
                <a:cs typeface="Avenir Next"/>
              </a:rPr>
              <a:t>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DF166-F1CD-45C3-BEDC-DBE94C9C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2AA"/>
          </a:solidFill>
          <a:ln xmlns:a="http://schemas.openxmlformats.org/drawingml/2006/main" w="0">
            <a:solidFill>
              <a:srgbClr val="9BC2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575628-ED5A-4B8D-937C-AB56A5E9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62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2AA"/>
          </a:solidFill>
          <a:ln xmlns:a="http://schemas.openxmlformats.org/drawingml/2006/main" w="0">
            <a:solidFill>
              <a:srgbClr val="9BC2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873FA-9EA3-4E81-9685-05C3757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38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Construction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3CF351-90EC-4620-93FC-970CF3E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2AA"/>
          </a:solidFill>
          <a:ln xmlns:a="http://schemas.openxmlformats.org/drawingml/2006/main" w="0">
            <a:solidFill>
              <a:srgbClr val="9BC2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30995A-1450-45A6-973A-754E30E8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Cost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4FBD6-95A8-4D39-A204-E6E01070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62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2AA"/>
          </a:solidFill>
          <a:ln xmlns:a="http://schemas.openxmlformats.org/drawingml/2006/main" w="0">
            <a:solidFill>
              <a:srgbClr val="9BC2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A64010-8BCD-472A-852A-EC0AA0E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Owner 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733E9D-75C2-4BA9-8FDC-74994172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904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The customer and property carry their context forward. Teams stop rebuilding the same record.</a:t>
            </a:r>
          </a:p>
        </p:txBody>
      </p:sp>
    </p:spTree>
    <p:extLst>
      <p:ext uri="{BB962C8B-B14F-4D97-AF65-F5344CB8AC3E}">
        <p14:creationId xmlns:p14="http://schemas.microsoft.com/office/powerpoint/2010/main" val="12922318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8D221-CB16-458F-A3DA-BE53F055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C9E07-0A14-4F28-821D-194F75B8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6346E-A5D8-4A24-B251-A2C89D1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WIDESTATE 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8A89E-A5B5-4F6F-B884-C6957A1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F743-D54D-41CD-B7A0-BD50D935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7D3E6-0372-48D3-B93B-2F40FFA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95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property becomes the centre of the operating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FC782-3A97-4A7C-A717-F74EC32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5FE74-C153-4AE5-A249-1BC96E9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05F1D-461A-48FB-8CAA-77A49BA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EFE39-4FEF-41AC-BB2D-7F8CBAC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EA9BA-247A-4A63-BBF6-17F418C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D9084-A339-403F-9318-9C47825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BA66E-2799-426B-8159-CEF30A7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8BDBD-60CD-4D14-A4FB-42D6DA4B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623A7-6D65-4756-8274-B5D108D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A0CDC-3037-4AFC-814A-561DE5E8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8F923-C4CA-4406-AC2A-79C2530E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65757-18F0-419C-8B5C-48C23EF3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24193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C279C-7C59-4CC1-B301-8AAD3B8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26193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50276-5B6A-40E7-ADEB-C743DB45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80456-5076-4E8E-B4B4-89A7113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79892-E81A-44BD-BEF8-7476F72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BF339-D2B5-4AC9-92F0-50148FE5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B9811-0EA4-406D-9C0A-811357DF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B01FB-A2DA-4E0B-BB4A-15E6C3EF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51F73-A93F-48B5-A3F8-5B3C951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C70AD-42B3-4D4E-9BB5-986C563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1792E-2FDA-4D18-A389-966F9F8B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06B8D2-E59A-4323-B9F4-C4B50E45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E8B4D8-5444-4A40-BB18-E3F76E0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30099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5CCDE-BCC1-4142-B348-A03C773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32099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BBFDE-AC92-4EC6-9161-1688E69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035B1-9C46-4025-9753-B581120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6CE8E-961C-414A-A8FC-3BCA85AB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57BFC-DE7D-41BB-8BAD-000B81CE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517E7-4E50-4A12-8033-2387EC4D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E50AD-A281-4304-ACEE-F0F3373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5B589-16FC-4719-A520-D9CA889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765B8-AF2C-4BE3-9434-02E124A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E531C8-A387-4760-AA13-4C00B21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B9736-E2E1-4E67-BB1F-D64B04DD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844777-2C1F-4592-AD34-449EE4E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36004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8DA55A-5446-4AA7-8D59-FE7034A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38004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19727A-F1F9-470E-99F3-C7EAA728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D4414A-2F7B-4C0F-B28B-C94297EB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479D27-3C52-4E04-9C94-8861A276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7C15DE-D37B-44CB-84DA-30025CC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AC1E72-39B0-48F0-8EF3-E04674E7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414A76-7AFA-4C98-9769-2A7E7F6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2A3997-A8A2-44A0-B4EF-316AF22B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F0239C-0BFA-4498-ACFE-B6AC8EDE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358331-1787-4565-BB86-F777C605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3AEE43-9956-4FE3-AA73-AA0D3999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673621-DAEE-481F-B60D-68F187F8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419100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5C2CB3-3937-45B2-8C66-114B99E2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439102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8D3D3E-59F3-4EDF-BDC4-A16CE53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9C65ED-9B43-4F1B-B24E-84A7570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CBDFF1-D8F3-4634-AE02-33EC9D3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857665-66C3-4A7B-AF0E-E789C0C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FCF136-9652-43F7-8449-54F47DB3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49F3F0-70C5-4AEF-9A19-53AFFD1D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935EAB-3336-4784-9A8F-C2D8F508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575C39-3C01-4FC1-A6E8-61C26AE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99ABB7-7585-4075-848E-CB9930C3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EAB205-6FA5-4936-BA7D-93AAA8A6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944EE6-C006-4C01-90E2-B43C2010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4781550"/>
            <a:ext cx="701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6E390E-4CD1-4429-9102-9E885DF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475" y="4981575"/>
            <a:ext cx="7016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130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834471-9765-474A-A414-751F918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504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CLICKABLE PROJECT CONTEXT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F26A4D-55A9-4E96-A0E6-338D18A7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FFE8B2-907E-485F-8504-08AE60F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MAP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2475AC-94AA-4F52-82E3-1743E002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CAD/PDF or manual hierarchy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2EED11E-907A-47C1-BB89-8DE5CC57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B0BF22-373C-4BF1-8F7E-992275C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OWNERSHIP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0177A4-D785-4B8D-96B1-8F8E578A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Allotment, transfer and registry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8BD867-C7B5-49EA-9788-D57B9763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3390E6A-636A-4D6F-ACAE-9834F3E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DOCUMENTS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BE29C2-5515-4751-A557-6AEEDD6A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KYC, legal files and letters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09961BE-ACD5-4155-B919-9377B837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6DE23B-5684-400D-A181-41ACB9D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CONSTRUCTION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0406DE-6322-47EB-BC33-543276A1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Progress, contractors and issues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FEE7E1-EF5F-4D7D-9002-A1473FF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A32ABD-CE4D-4C09-B071-733622BA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COST + BOQ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3AD32E-16CB-46E4-ABCE-03A7684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863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Planned versus actual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66CA0BF-C39C-42A9-86D3-0D5A3629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282A8E1-25A0-4E09-8917-EE07CDB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OWNER SERVICE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FB2923-484F-44B2-9F75-F0118939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86325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Approved documents and updates</a:t>
            </a:r>
          </a:p>
        </p:txBody>
      </p:sp>
    </p:spTree>
    <p:extLst>
      <p:ext uri="{BB962C8B-B14F-4D97-AF65-F5344CB8AC3E}">
        <p14:creationId xmlns:p14="http://schemas.microsoft.com/office/powerpoint/2010/main" val="2243225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7DF44-A386-4C29-9A66-02571CC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298A-016B-42AB-82C6-DF0D73BC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70BD7-FE81-4FB5-B174-B3A7996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CRM + CLM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8B386-89A8-49FB-8382-B5A470CC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66A4F-59BA-4799-A218-3FAC031B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8E1BC-454C-4BEC-BE90-D95B4067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sales record should survive the booking.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D9AEE-8D4B-4161-B93C-67B53D76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E4624-E4F1-4788-9BD6-4EA1F79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BD037-CF00-4204-9D7E-2ED1073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Campaigns, portals and referrals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A9C38-26A4-49CB-8442-466A4BE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70A1F-D331-4715-8CFA-C46DF94D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87325-3134-4697-9E1D-9702B0AF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51B42-D65A-4769-B52A-352DD6C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Assignment and follow-up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CF2AD-7EAF-4273-8EA5-5AF3ECC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C1804-6665-4E9B-86D0-0368A50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038C5-2839-44F5-AA09-3544E15D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B3BAC-50C7-460D-8852-8811ECF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Projects and live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F1963-03C0-41F8-B8EE-F2106C03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E10AA-F3CD-427F-ACF8-EDD263A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5F6FE-4049-4788-BC53-8F76D5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CONVERT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2BE84-0A84-473E-9CCD-7EE58F76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Visits, booking and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35399-912C-4A9A-B88D-C68182E8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70622-C37E-4518-BDCE-062AAF0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38375"/>
            <a:ext cx="17907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6FAED-C768-4BF1-9845-5DB29DE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1447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HANDOVER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DE36E-0D87-4F07-A406-5D2CD790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1447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Ownership and customer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1416D-FF23-4161-B0D7-9C23448C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Sales accountability improves when customer context moves forward.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45ACB-18C6-49E8-B947-4A86534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30D42-840D-4DC3-8964-FC247B8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Visible activities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CD42F-2052-46FE-A858-B8A58D9F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528637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A6FF6D-F921-4821-86FD-EBFD3F75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INVENTORY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4EABF-5B98-4B02-8FE2-5BA516ED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82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Better matching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8EB847-CD04-4C3B-B181-F30F884D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5286375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D4941-2AFF-44CD-A342-0678EC43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5334000"/>
            <a:ext cx="305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8C15E-D11F-415B-AA4A-69304F15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5657850"/>
            <a:ext cx="305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Post-booking continuity</a:t>
            </a:r>
          </a:p>
        </p:txBody>
      </p:sp>
    </p:spTree>
    <p:extLst>
      <p:ext uri="{BB962C8B-B14F-4D97-AF65-F5344CB8AC3E}">
        <p14:creationId xmlns:p14="http://schemas.microsoft.com/office/powerpoint/2010/main" val="2656408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F1CEC-03B2-4357-9905-91671CB0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9D0BF-BE60-4475-9954-14CF76B0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9AE3F-7C00-49FA-9577-7948DD09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OWNERSHIP + LEGAL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DC53-D2EA-4C32-A8F2-4ACA2F28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61795-09E3-4609-8541-982F295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44A58-7F27-45F4-9013-7F86D951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52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Every plot needs a complete, chronological trust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DB7E9-EE9F-4916-AF8E-80E30EE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57714-5CF1-4A8F-915E-8EE95F20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86"/>
          </a:solidFill>
          <a:ln xmlns:a="http://schemas.openxmlformats.org/drawingml/2006/main" w="0">
            <a:solidFill>
              <a:srgbClr val="2D59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39073-1504-4164-A51F-763599A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0003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F77F6-E2D7-4865-85BA-261E4087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33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Company 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D996C-7030-4A9C-B3B4-F0A005C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86"/>
          </a:solidFill>
          <a:ln xmlns:a="http://schemas.openxmlformats.org/drawingml/2006/main" w="0">
            <a:solidFill>
              <a:srgbClr val="2D59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D5E1A-2A11-4FAB-8097-1A48CA6E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Allotted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73FB4-BE5F-437F-8689-9081BF8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Owner and amount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1CF4-E07E-4508-8D83-6C1C36AE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38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86"/>
          </a:solidFill>
          <a:ln xmlns:a="http://schemas.openxmlformats.org/drawingml/2006/main" w="0">
            <a:solidFill>
              <a:srgbClr val="2D59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3CFE7-C234-4A71-815A-C6D94E65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03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Documented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5F077-3B22-45E7-8A97-D3FA61D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Letter and KYC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AC733-0AC8-4D47-91AE-0BF578E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38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86"/>
          </a:solidFill>
          <a:ln xmlns:a="http://schemas.openxmlformats.org/drawingml/2006/main" w="0">
            <a:solidFill>
              <a:srgbClr val="2D59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D4F91-6420-49C9-85F9-24E7A412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003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Transferred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47B927-F283-43C2-9959-FE55267A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Buyer and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492D4-FC56-4710-BB4E-80BA0CC1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38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CA36A-6B29-40B4-81AA-622824C8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0037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Registered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B965A-100A-44A0-BBB7-F9403AEA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133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Deed and receipt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85734-C09F-4B59-899A-CBBB5C8F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8B8B9-49E3-4DCB-8242-62278D6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Plot · owner · transaction · documents · registry · audit history</a:t>
            </a:r>
          </a:p>
        </p:txBody>
      </p:sp>
    </p:spTree>
    <p:extLst>
      <p:ext uri="{BB962C8B-B14F-4D97-AF65-F5344CB8AC3E}">
        <p14:creationId xmlns:p14="http://schemas.microsoft.com/office/powerpoint/2010/main" val="874026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15C74-F8D6-47DD-9863-72CB417C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16E3A-EB53-4C62-BAD6-BD741CF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F4AA9-3341-4633-B848-3C6FE977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EXECUTION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38D74-2807-463F-B538-D3402BF9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C9556-90DD-438E-803A-76E9750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12793-6B89-4135-8450-259D0F6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52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Progress and cost become useful when management sees them before the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6DAF4-841D-49C7-9D70-9322B6C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5334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4EFF-FBAE-45D3-9924-9ED7779C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336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F8CCA-B66B-4260-8D38-53F744E2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57500"/>
            <a:ext cx="4762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Site, plot, unit and room-level execution connected to accountable teams.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8D82A-44C0-4551-A019-5078EDAB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26F5E-3656-4331-973C-A187AF9A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3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Contractors and deadlines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C0A15-34F4-4D0B-AC06-A72F892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B1751-3361-4CDF-87D1-7B5A6041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576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Progress photographs and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10B3D-3CF3-4DA0-9C28-DB3B03A0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2BA13-AF01-4FB9-A3EC-542BB11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529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Owner-visible updates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83112-D81C-4FA8-B5E9-8074BAA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53340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8890F-1969-4F61-AD25-532085A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336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COST + BOQ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C4E5E-DAB5-44B5-ACB4-EFBB255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57500"/>
            <a:ext cx="4762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Planned quantities, procurement, invoices and payments connected to project reality.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665B5-2111-4D91-B310-3B35416D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29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11104-7F69-4909-80C0-3ADA573A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623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BOQ and vendor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63AC1-7810-430E-A8FB-632AD426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A83E6-3EDF-4D67-B3D0-D60CD40D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576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Planned versus actual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13CCD-F8DD-4261-A44A-7FF6484C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578B9-CE74-4C68-A28A-DF0E415F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529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Human-reviewed risk summaries</a:t>
            </a:r>
          </a:p>
        </p:txBody>
      </p:sp>
    </p:spTree>
    <p:extLst>
      <p:ext uri="{BB962C8B-B14F-4D97-AF65-F5344CB8AC3E}">
        <p14:creationId xmlns:p14="http://schemas.microsoft.com/office/powerpoint/2010/main" val="7294297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73EA5-ED78-469B-B0ED-141FABD8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BF100-77D9-4355-A829-6EA782E9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2EC3C-C0D0-4D15-9B8A-BD712FB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CUSTOM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47AB5-E014-4FAA-97A9-CEA1CB0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1EB18-C180-4C54-97B9-1D127A99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418EA-F946-4A46-ABFA-5BDEE44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95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Your company should not have to discard every working process to adopt better technology.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31943-2600-4EA5-928E-28E1C97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can configure the platform, implement selected modules, or build specialist workflows around systems that should remain.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3ED77-61D2-4172-AF92-85E4821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F75F4-6CDF-4DA4-A266-5945F17B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Builder-branded portals and dashboards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6ECF7-AAF4-4150-A974-5903445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F856D-FF60-4974-914A-5FF5F14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Custom roles, approvals, fields and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113E2-60AF-456E-A400-304B026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5F6C5-A110-459D-BCAB-334720F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CRM, accounting, storage and API integrations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52066-436A-4373-B175-B4EE6BA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1ADCA-46CB-4268-ACCD-CC599E36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Existing-data migration and deployment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BF782-7032-4EFC-9382-FE11B4CE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"/>
            <a:ext cx="3429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7F908-0D8E-479D-9409-4331730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ENGAGEMENT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B4FC4-DDC8-4E86-AA11-15D3F09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4B213-586A-4B1D-8A88-F8CC085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Complete operating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ECD68-BF33-4CCC-B41D-BFA884C0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52B8B-ED26-43E7-B957-0C81E7C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71AA4-BB71-4952-BAB3-12C1681C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Selected modules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87153-8F7D-4E36-8E97-322697E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5A530-4FAB-4FEB-B782-7AF456E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03079-20B9-4B3C-87DA-01F77BE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Custom technology solution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A60CE-071F-4B71-B25F-1D5241A4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671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7"/>
          </a:solidFill>
          <a:ln xmlns:a="http://schemas.openxmlformats.org/drawingml/2006/main" w="0">
            <a:solidFill>
              <a:srgbClr val="D9E0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3E357-F0E2-482A-A17C-5F4C7F5A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BA7B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2AD9A-207B-4978-BEC3-D4C5363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95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Integration and migration</a:t>
            </a:r>
          </a:p>
        </p:txBody>
      </p:sp>
    </p:spTree>
    <p:extLst>
      <p:ext uri="{BB962C8B-B14F-4D97-AF65-F5344CB8AC3E}">
        <p14:creationId xmlns:p14="http://schemas.microsoft.com/office/powerpoint/2010/main" val="15292079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7ADE6-19B1-4DC7-8156-0348BC6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1CA2B-5AD8-4366-9FC0-C406CFF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7E0D0-2643-4AE3-8555-0D8E74A3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SELECTED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01DB4-3D66-4CC2-8FA2-B35098F2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783D0-2F95-428E-8BE1-830477A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09BC1-78A5-46B9-AF71-0D895DB8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71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Breadth comes from multiple evidence types—not an inflated client wall.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E28F0-E432-4BC4-9D0B-F403667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E58DA-F7DD-435C-8B06-7F61B05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NAMED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12055-D0E2-44FC-B9D5-372004A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Saldha Land Developers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A7F47-F4C1-4F1F-950A-6F27409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0BA98-7AD9-4820-BFAD-D51A0AB9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CONFIDENTIAL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9793B-D009-44A0-B100-6DAB527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North India plotted developer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7FA96-0422-485B-8E96-DA47B20C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B43AF-25F4-405F-A180-59BEB2B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DF187-0C47-451F-81E2-1152A64A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CRM + customer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0F5DB-4E0A-481B-B9E6-F101B98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A8FD2-3350-4D3C-A6BE-73D41890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45196-741A-43CF-A48B-CD4A49A3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Legal document digitization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44B00-510A-433F-A8FE-82F772C6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93A0A-1522-49E1-A64F-BADED02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CAPABILITY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B127E-3882-4FFF-99F1-DDB29D2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Construction + management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12936-4D85-495F-A580-9CB5C795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1746E-CCAB-469A-9370-85C5907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CAPABILITY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39471-0B2C-4997-88CD-7E4B51E5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Custom portals + integrations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2FCBC-8A8C-4E5C-8B18-411D5FED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5AC8C-0E8E-470B-88F7-C08DCD36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5CBFFF-F248-4B7F-8854-AE89EAAD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WIDESTATE 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2647B-21DE-4A53-B703-C6AAF8A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6735A-B970-423F-B23C-1CA06214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964350-18F0-4C86-BB70-B62D1F5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Real Estate CRM/CLM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C8092-7049-40FD-B6F2-C6C2525F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Named engagements, confidential delivery and configurable product capabilities are labelled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2666617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CBB548-C28C-4842-9AF7-B8AC52F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1B7E9-7A10-4E97-876A-28EEC8C5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33FED-6447-4449-9B29-1F036669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SELECTED NAMED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6D4D3-72E7-49C6-99C7-143D375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EB782-70F2-44B5-B143-93CF942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DD7D2-D332-43D7-B2D3-E66C6F63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28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One builder engagement connected project, property and document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A91CD-D8EB-44BD-9A18-A392713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 plotted-development operating environment designed around easier project navigation, ownership actions, legal records, generated letters and owner-facing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DFE6-51F5-4454-9D0A-32E968E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619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DCCC9-AA5B-49A7-8CD2-7E1B636D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WORKFLOWS 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7800F-B974-437F-8CB6-BADDB76C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73A1D-1F9B-4269-B0A0-151CA572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Project + plot workspaces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EFE74-934E-4E89-9288-6F457586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9F9C9-D263-443E-B931-3BA2449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481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Allotment and transfer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E42D8-137E-48A5-B334-0DD1A65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A4F2-C8A2-4C11-B885-40F7CF1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Registry and audit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A330A-F52C-4BEB-9B97-2987877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C8C58-BCE8-4B82-B5E3-61744DBC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2437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Document vault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64E0D-5E7D-449F-828C-D1918DDB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93F5F-E88B-4AC4-B65D-CBF0FCCB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Letter Studio + PDF composer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59841-50B0-4525-B044-234B3BB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EDB4D-7CFD-4E2D-8B1F-621A9C0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006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Owner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899FB-E268-4C19-AFE4-E5143353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4191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9560E-BB91-4173-8B89-0845DF09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342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DELIVERED ENGAGEMENT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9AF07-2A0D-428E-89E3-2151439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Saldha Land Developers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A2122-DDD1-428A-B4EA-E85A816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Vrinda Enclave</a:t>
            </a:r>
          </a:p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Ananta Enclaves</a:t>
            </a:r>
          </a:p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Ambey Homes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87D749-E4A2-45CA-B9F5-E6943A36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E025B-3D2E-4255-BB44-88B5EFE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00CD7-A330-4747-BB27-93836DBC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F1667-7004-43E4-A012-EA50ED36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132B5-7E0D-4660-8E8A-187C02C5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67882-EDA0-4904-8FD1-7C3411BE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5936F-3F78-43C1-8AEA-06552B1E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6E3B1-89EE-4DAF-B7E2-E1033C8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C9056-0F13-42F1-9B04-BEA08AC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83B083-9AC7-420A-B7DB-7DDCB998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F786C-DC4D-4B86-BAD9-92BA0448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78C42C-782E-4F22-BEAC-3649B433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747CBD-430A-4AC8-8225-83C39A4A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912C2-FA5B-4B18-A1CC-4D8685D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B879FC-39E0-4128-ABE5-CA550E79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B88A0B-6F9F-4BEA-8428-EAB6FA72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B71202-752D-4C88-9B9C-71D067C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3EBEC8-D4F1-42B9-9A4A-F405AC4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7A445C-9436-40A9-AB6D-0C2FF2A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956D10-5ADC-4207-B894-ABFEFC82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86459A-DAE3-41C6-BF8A-1B540727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ED8C8F-3996-43EA-8019-328098F5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7AFE34-D272-4776-9023-51CEA9F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FDD503-84C2-4E81-8CDF-65EA7B3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489D1F-67F1-4086-97E8-8CA9630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4E9208-62D4-4DA0-B4AE-5DD8DD6A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BB53A3-20A1-4605-BE9F-C19A767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2DD82E-DA36-48D0-A9A1-6BAC344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281377-5520-4A2E-BBBD-928FF41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E1BAF3-F849-4FC8-ADA3-9CDB8135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FC7D0B-9A1B-4F67-8BA2-2477269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41F7C0-09BC-40C3-A87C-681F151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A011E5-D616-4C9B-9C48-00DC0F38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84311B-2135-427E-927D-4F57C56B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588F87-9101-4170-9A50-81CCA67F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774F1C-8FEF-4D1E-9B73-537D3558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C4B501-BD4C-4858-A0AF-6285317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6EBA21-FAAC-4C08-9912-A4891E94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9C8DFC-4274-4225-AA4B-8136A15E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08BBAB-A882-4DE2-8D3F-EF68A5DE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7FD601-4EAE-4C9A-B11A-A6A6F502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D95535-EC62-4729-83EC-C41B03A9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A30A1E-C418-4C58-B9A1-B5B0CF24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C998F9-16BE-415E-A9E2-3FD735D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780958-3C79-401B-AA52-B7461F3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973F07-1DD7-42E3-BCE0-F2B72636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B6725A-DF29-4B62-96D7-CE624E73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A14F19-73FF-41F5-B644-FEF09EF5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C42180-FA96-49E3-9215-B3DC16D0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20512A-112F-4C9E-AABB-7B2327EA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1DE4AD9-7058-4E11-8648-434E7153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D0429F-FC9C-4850-A8BA-2E63BA6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B926EC-5CB4-4D4B-9588-B0250B6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EC39C68-2B51-4E59-BBEC-8294039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C79E1D-C6AB-437E-B2AB-CA7C69C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8BDD93-0D2E-4DD3-B85C-8386FF4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1A4F72-9EAB-4B5D-AE33-6F5DD073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CC275E0-A2D3-462C-ADE9-AF8E38D7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A72A77-88FA-455A-B39F-9C6F48C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7561D1-74DD-44B1-861B-F3B67C0D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8E4A35-C5AA-4827-BDFB-EBBF254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2630582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7BC86-8568-4436-892B-EBC23A13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AABFE-08A0-485B-BF5A-11DD926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B05CD-E2F8-44C1-A16A-67E28493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CONFIDENTIAL ENGAGEMENT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5354A-1624-46F5-B6D6-4B23AABF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F0DA6-7DCF-4FCE-B87A-DC928062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44CCE-1010-4F18-AFF6-A26F2485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28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same operating principles adapt to a different multi-project builder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C7BFB-6E22-4FEA-B9DE-18C820CA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A reusable operating model for company-held inventory, ownership actions, registry visibility and management reporting across developments.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71620-8A71-4A1D-8576-049BF55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619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D2345-8F63-4571-BF8E-CC045F2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WORKFLOWS 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DF269-6AEF-4EB3-8511-257D0245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D3392-4827-4E93-8074-21931596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Project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DF57C-A1CF-4B3F-90E5-4E23EADE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6E8E1-02FE-4E90-85CA-1F740490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481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Inventory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08044-ED22-4680-B7F4-6BD58CA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27EEA-9169-4D20-A477-54D0E36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Plot status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C474E-A2A2-4FEE-97B2-517213C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F3BA9-A042-4DEE-84DF-B5A3113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2437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Ownership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003DE-7A69-48DB-A39E-F8971A3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BFE39-8B70-4ECF-971A-23E90FD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Registry tracking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2991C-F05B-4BE4-94AA-BF1F6B9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13344-7A21-4B25-AAB5-E26804E6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006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394456"/>
                </a:solidFill>
                <a:latin typeface="Avenir Next"/>
                <a:ea typeface="Avenir Next"/>
                <a:cs typeface="Avenir Next"/>
              </a:rPr>
              <a:t>Management reporting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A1114-9D33-4600-9C1F-070DDF22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4191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9D008-A5D4-4B15-BFBA-48C4E05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3429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CLIENT NAME CONFIDENTIAL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47FE2-21B0-4E01-9E04-28D1DA7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North India Plotted Development Company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EEF07-4E86-4F46-89F3-50D80DA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Multi-project inventory</a:t>
            </a:r>
          </a:p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Registry visibility</a:t>
            </a:r>
          </a:p>
          <a:p xmlns:a="http://schemas.openxmlformats.org/drawingml/2006/main">
            <a:pPr algn="l">
              <a:def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Management reporting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54A5C-F21C-421F-BF1D-66BBA647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4EA254-C19E-4F87-AE30-749B9E2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F9B17-83F3-4849-9FD8-6D9E56B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7869F-6824-4FCE-8677-5B62B737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D1965-AA58-4327-BB1A-8EC8B59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7032B-5F13-4D85-A5E5-A2CE60C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CB65E-4315-4C4B-A624-3D42153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A19E99-5B5F-440B-89BD-9FB92534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1E6F2-0676-43F1-901A-C68B1460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D1310-6B71-44CF-BE70-9AAD57F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A46AEE-876F-4F52-9B32-4A513CC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7BA5C-B55E-46C7-AEA7-0BF5EBF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133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4ECA1F-BCF7-4FC8-BA08-1A676D2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133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05C0F9-808E-45DE-B525-DF9CFBF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BD49DF-D959-4760-B614-91667B67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9B1A0-2573-489E-822A-D116904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CBDD94-F243-4196-B31A-C4F5CCD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8E5C16-ECE3-43B7-AE68-1E2D6C4E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D23AB6-21CA-4494-818E-9070224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7120EF-BD9B-4839-935D-CFA801F6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63AE96-AA42-4463-92DF-B9803776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DBC170-3314-4191-BAE0-A0F3CAF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3CA5FF-E6DF-4184-A173-60A9BC6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A1DA04-682B-4F5C-99D6-5D029FE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324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9C1189-F1D5-452B-B762-A66BA9A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324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4B6B57-08F1-43F3-BFA8-498EE69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A6BA3C-8F66-48B0-B317-FED8FA3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4C8C68-5F14-4976-9A6E-C3BA4EDC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FB2314-462A-40AA-8503-E395D93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8EA23A-A9DD-4B5A-8289-F3A2FF3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AB4D53-52F5-4F7F-ABB8-D3F0AA86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8945B1-75DD-4957-A33B-B564F1BA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6F37A7-9229-48DC-989E-0B62FC89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852BE5-641C-4167-AA8D-68ED3F8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9580C1-511B-4A84-829F-80AFDE83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5B3C83-B050-4B05-AF99-408CFDD9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514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C7B8F4-438D-4F26-B9FC-CF29DB00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514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53EF9F-1AC1-4359-8FF5-A3A1B5D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004BB6-8ACA-40CA-8E34-5FD8E3B2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119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4659C9-A627-42B9-A598-3894818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7E0B62-4F0A-4A05-A074-16C5BAA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266A94-55F3-4167-8EA6-E87A47E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1123F4-05C6-44AE-9EBC-80154F57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8183BF-ABB5-4B20-A160-84BD4F8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9E8183-716D-404E-980C-AE86EE9A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0DDAA4-6F95-4113-8505-5FD0AE69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E85675-4970-4A01-9766-7DA4D0F3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2EAE288-A96D-49C3-B409-5B784F3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7053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011FCC-5A15-490A-B3C0-F44EF7B1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7053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B009EF-C83F-4568-B7C3-4ABAF75B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414735-7887-4748-A4B4-95EC2F8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9645AF-F9B1-44AD-8C20-C0D3548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76959A-88FB-4366-956F-1B501791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69D6FA-8749-44EB-A3C4-76FC309B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D382B1-B6C1-4BC4-A37E-F03418B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85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C0BA94-5F16-4662-891D-6A9822CE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963759-4751-4785-9700-25C6FAB3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88C62E-DE9E-453D-93A3-4852F51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C8EAC0-FF9B-4025-9FCA-7E98CCBC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129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06AFBF-394F-4E22-AEA9-1FB60CE4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895850"/>
            <a:ext cx="415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4A"/>
          </a:solidFill>
          <a:ln xmlns:a="http://schemas.openxmlformats.org/drawingml/2006/main" w="9525">
            <a:solidFill>
              <a:srgbClr val="6680A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58A9D0-3722-420C-AE62-D20EB5F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895850"/>
            <a:ext cx="41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B8C3D2"/>
                </a:solidFill>
                <a:latin typeface="Avenir Next"/>
                <a:ea typeface="Avenir Next"/>
                <a:cs typeface="Avenir Next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776464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8DBB2-D626-4A26-9781-515CC3E0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5A01D-DCB9-4D57-8B10-CC639D4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759CE-1817-47C1-AB9C-4552D6DB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SPECIALIST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086BA-39F4-4BD4-B4AC-11B29EFA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CCF96-AAF6-4137-8230-41A21CF0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3EE62-2283-48D1-BC49-E5C5FFA5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71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The portfolio extends beyond the core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18CB8-22D3-411A-BD47-11376387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2DB10-DBD8-4A7A-A180-3858DFC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LEGAL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747E5-A452-4E97-A643-DAB1D6BC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Dynamic letters + 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0E806-3BE8-4D74-8BF9-0C0E4A74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BEC25-CCC3-40FA-969A-AEEE6096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DD7D7-412B-4642-97F9-555CF0F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Signed-page replacement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D8B9C-EF74-401E-988B-15EAFBF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92DA0-E146-4C7A-A516-89A1124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MIGRATION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B9615-79EB-49B9-9D22-7774035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Existing records + 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A70C6-044B-499B-8A6D-497C28B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038A4-DEE5-453B-BEF5-D3E15F4D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D7F2B-F6B2-418C-B037-DA134CA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479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Owner portals +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E0D5A-3456-46C6-9DE7-91DFEED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6CF7A-6CB0-4CD1-BA1B-F172C027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94077-D632-46B4-BCA4-96D10E2D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Mobile progress updates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D40A4-BB9C-4B34-98A7-CBFD5286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56F1F-120A-41B3-95D0-188F1058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MEDIA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A3648-CD64-43FE-80FF-79824CD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Marketing review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C0FBA-8CC7-414E-BD7E-ADAE145D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5303D-986D-4F9F-8422-F706245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REPORTING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87A7B-C663-43C0-893B-E7DA6975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Management summaries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62E2D-83DF-4F14-B234-578A9B84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5E75B0-EBB2-475C-8EE9-536DCCD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00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53F61D-5855-453C-8BCE-BC4D637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385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Existing business systems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2AD311-8D8B-4EA0-BD20-9DCA7FC7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These are configurable solution areas; client delivery claims are made only where evidence is approved.</a:t>
            </a:r>
          </a:p>
        </p:txBody>
      </p:sp>
    </p:spTree>
    <p:extLst>
      <p:ext uri="{BB962C8B-B14F-4D97-AF65-F5344CB8AC3E}">
        <p14:creationId xmlns:p14="http://schemas.microsoft.com/office/powerpoint/2010/main" val="1086236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48348E-812A-465B-99C6-A0779AB3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ACC37-3B9C-45A2-BE5B-6B9B005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23BE4-49DD-4D0D-81DA-897626DF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CDF08-40B2-4E7A-8652-0606E1F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A3EC-9787-4315-8198-A96D99EF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BD98-BB0E-41F4-804E-9BFD3F5D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8953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Adoption is designed into the delivery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2E70B-6A5F-488E-92A0-B87E348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E732-30A6-409B-8753-127840F0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482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2DCA-6E25-4EC4-81A8-2B84306B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53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5481C-1A07-4B3D-B6B2-DF60042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10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Projects, teams, records and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BDD1A-6597-4318-81E4-CC67477B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24300"/>
            <a:ext cx="1952625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D22E3-7242-4466-924E-A2C59C5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957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97C5F-94A9-4959-BA5E-0A4588CC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00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Configure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6B30F-D5E2-434D-BA15-62D605C2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Modules, roles, approvals and reports.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B113A-EB8F-4B08-BFE6-CC2F1BD4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71850"/>
            <a:ext cx="195262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E9268-18EE-4835-8D51-78C6641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433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16381-EC34-4C48-AE4A-E5EA254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48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Migrate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66444-47BD-48AA-8B05-62C9CDF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305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Review and reconcile existing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A7C78-32DE-4BB0-9D9A-DBD57F48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19400"/>
            <a:ext cx="1952625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A0741-F0D0-41D8-927C-B5644DA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90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8A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E1FC4-4F77-4F9D-9CB8-8B43E7D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95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2033"/>
                </a:solidFill>
                <a:latin typeface="Avenir Next"/>
                <a:ea typeface="Avenir Next"/>
                <a:cs typeface="Avenir Next"/>
              </a:rPr>
              <a:t>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004C7-99FD-4D32-8F13-DE11FE4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67085"/>
                </a:solidFill>
                <a:latin typeface="Avenir Next"/>
                <a:ea typeface="Avenir Next"/>
                <a:cs typeface="Avenir Next"/>
              </a:rPr>
              <a:t>Train teams and start selected projects.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6B31A-227C-4247-95E7-4C1A7EF4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66950"/>
            <a:ext cx="1952625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D3C0D-3D54-45AA-86B1-14825A1F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384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A505D-D1E5-4032-9090-04078A20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432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2DDA6-BECE-46F9-9B60-F3F1890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200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Support adoption and extend the platform.</a:t>
            </a:r>
          </a:p>
        </p:txBody>
      </p:sp>
    </p:spTree>
    <p:extLst>
      <p:ext uri="{BB962C8B-B14F-4D97-AF65-F5344CB8AC3E}">
        <p14:creationId xmlns:p14="http://schemas.microsoft.com/office/powerpoint/2010/main" val="5630787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3AE19-81BA-4679-9A5E-F5039BF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941E6-0024-445E-8856-6784C5E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9513C-646A-4C92-A832-3B6B7F44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TRUST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D91C2-6EFD-4590-8ED3-842ABFD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742C8-0C83-4C87-88FB-CDB0959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2989-0283-41F2-8820-EBC57A69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695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Sensitive property operations require control, traceability and resilient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A8468-7D6C-41AF-946C-DDBF0A8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657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The platform is designed for companies, projects and roles that should not see the same records or perform the same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4506F-F078-44A3-A3F2-75DB8D6F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A1D1A-2162-4DE6-A476-A651D83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Multi-company and multi-project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0761E-FEBC-43F7-94E7-31FC8640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27212-A1BA-4A03-BB9B-A0F6EFBC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Role-based permissions and file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95CC4-7650-471F-9510-C3C452E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2AAA8-8F3A-4A79-9248-18E9782B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Ownership and document audit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34F2C-E062-4FB3-A147-6910386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ECCED-90CA-4204-A1C9-FE552C3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E0E7"/>
                </a:solidFill>
                <a:latin typeface="Avenir Next"/>
                <a:ea typeface="Avenir Next"/>
                <a:cs typeface="Avenir Next"/>
              </a:rPr>
              <a:t>Cloud deployment, resilient storage and background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BBCC4-25E7-4C01-AE66-A1D90BC0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"/>
            <a:ext cx="3429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C42"/>
          </a:solidFill>
          <a:ln xmlns:a="http://schemas.openxmlformats.org/drawingml/2006/main" w="9525">
            <a:solidFill>
              <a:srgbClr val="3341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62305-E40B-49B3-8BEA-AA2DB8DD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430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DELIVERY PRINCIPLES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08FDC-EB03-4143-8269-886BEAC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668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D9924-8B76-4C74-8EB5-86A089CF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192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Permission before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739B9-7875-4896-BEAA-D5198EE3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A"/>
          </a:solidFill>
          <a:ln xmlns:a="http://schemas.openxmlformats.org/drawingml/2006/main" w="0">
            <a:solidFill>
              <a:srgbClr val="3341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298D4-CE0F-47B7-9AC0-63A2468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75237-C53B-43CA-B2DD-FBF2852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Review before publication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63E7F-1095-4D64-A651-3E116EC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A"/>
          </a:solidFill>
          <a:ln xmlns:a="http://schemas.openxmlformats.org/drawingml/2006/main" w="0">
            <a:solidFill>
              <a:srgbClr val="3341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B98A4-B31C-4478-A1AE-1A3FDA9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49B23-0BCE-46BF-80BF-753B3A8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528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History before deletion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BFCF7-9D85-4D24-B256-27E55EB7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671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A"/>
          </a:solidFill>
          <a:ln xmlns:a="http://schemas.openxmlformats.org/drawingml/2006/main" w="0">
            <a:solidFill>
              <a:srgbClr val="3341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79D30-433A-436A-9DEA-41EF040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793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DF806-C301-4C20-BAE9-BF3D8DE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95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Support after launch</a:t>
            </a:r>
          </a:p>
        </p:txBody>
      </p:sp>
    </p:spTree>
    <p:extLst>
      <p:ext uri="{BB962C8B-B14F-4D97-AF65-F5344CB8AC3E}">
        <p14:creationId xmlns:p14="http://schemas.microsoft.com/office/powerpoint/2010/main" val="8244685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A36B1-A328-481D-A2FF-B6D2F448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7809-9E86-4EB0-A1AF-ADA1B3C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2"/>
          </a:solidFill>
          <a:ln xmlns:a="http://schemas.openxmlformats.org/drawingml/2006/main" w="0">
            <a:solidFill>
              <a:srgbClr val="DCEA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8623E-3608-45B8-8628-D7BF336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NEXT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6E537-F0EB-4D96-8044-1C0F21C7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817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0DFB1-44E1-4EA0-9DEF-C60FA6A9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B3C1"/>
                </a:solidFill>
                <a:latin typeface="Avenir Next"/>
                <a:ea typeface="Avenir Next"/>
                <a:cs typeface="Avenir Next"/>
              </a:rPr>
              <a:t>KALMAN LABS · REAL ESTATE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4840D-6247-4FBE-A824-44D7F6B7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838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Let us understand your projects before recommending the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60395-9E2C-4ADC-B005-7C8105B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C9D2DF"/>
                </a:solidFill>
                <a:latin typeface="Avenir Next"/>
                <a:ea typeface="Avenir Next"/>
                <a:cs typeface="Avenir Next"/>
              </a:rPr>
              <a:t>Start with the complete platform, selected modules, or a custom real estate technology requirement.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6FF89-14B3-4F02-BBBF-ED1B542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WHATSAPP /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77AB8-6A24-471B-8E6D-0909A1FF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609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+91 82920 98293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17A8D-BC2A-4BF5-B431-FEEEEEA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24425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D037E-3AA2-4684-9D85-BD53248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609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company@kalman-labs.com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6614A-2F2C-4F0D-87BA-6BB503D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666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CEAE2"/>
                </a:solidFill>
                <a:latin typeface="Avenir Next"/>
                <a:ea typeface="Avenir Next"/>
                <a:cs typeface="Avenir Next"/>
              </a:rPr>
              <a:t>PORTFOLIO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6E8DA-21F0-4B1C-9DE4-D92FBFFA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6096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WIDESTATE OS · CRM/CLM · Custom solutions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98EC5-284B-4445-A3F3-9D738EA3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0125"/>
            <a:ext cx="2000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A6E"/>
          </a:solidFill>
          <a:ln xmlns:a="http://schemas.openxmlformats.org/drawingml/2006/main" w="0">
            <a:solidFill>
              <a:srgbClr val="5A8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8A08C-E89F-4FCD-A259-5E51A347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428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START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WITH THE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ACTUAL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REQUIREMENT.</a:t>
            </a:r>
          </a:p>
        </p:txBody>
      </p:sp>
    </p:spTree>
    <p:extLst>
      <p:ext uri="{BB962C8B-B14F-4D97-AF65-F5344CB8AC3E}">
        <p14:creationId xmlns:p14="http://schemas.microsoft.com/office/powerpoint/2010/main" val="1736202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2026-06-12T14:39:34.5630000Z</dcterms:created>
  <dcterms:modified xsi:type="dcterms:W3CDTF">2026-06-12T14:39:34.5630000Z</dcterms:modified>
</coreProperties>
</file>